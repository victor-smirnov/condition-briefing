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Lst>
  <p:notesMasterIdLst>
    <p:notesMasterId r:id="rId4"/>
  </p:notesMasterIdLst>
  <p:sldIdLst>
    <p:sldId id="256" r:id="rId5"/>
    <p:sldId id="257" r:id="rId6"/>
    <p:sldId id="258" r:id="rId7"/>
  </p:sldIdLst>
  <p:sldSz cx="9144000" cy="51435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0" y="764280"/>
            <a:ext cx="360" cy="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9"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0"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1"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BCC86320-ACA1-4810-9842-BDE378D5E0B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685800" y="1143000"/>
            <a:ext cx="5486040" cy="3085920"/>
          </a:xfrm>
          <a:prstGeom prst="rect">
            <a:avLst/>
          </a:prstGeom>
          <a:ln w="0">
            <a:noFill/>
          </a:ln>
        </p:spPr>
      </p:sp>
      <p:sp>
        <p:nvSpPr>
          <p:cNvPr id="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strategy team needs briefings on a condition: current standard of care, treatments in development, and the companies and institutions involved. The numbers come from our type 2 diabetes test run. The problem is not access to information but the volume, the lack of traceability, and the cost of redoing the work when the question changes.</a:t>
            </a:r>
            <a:endParaRPr lang="en-US" sz="2000" b="0" u="none" strike="noStrike">
              <a:solidFill>
                <a:srgbClr val="000000"/>
              </a:solidFill>
              <a:effectLst/>
              <a:uFillTx/>
              <a:latin typeface="Arial"/>
            </a:endParaRPr>
          </a:p>
        </p:txBody>
      </p:sp>
      <p:sp>
        <p:nvSpPr>
          <p:cNvPr id="8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447A327-4E53-4C0E-BFD3-33FED88FB95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685800" y="1143000"/>
            <a:ext cx="5486040" cy="3085920"/>
          </a:xfrm>
          <a:prstGeom prst="rect">
            <a:avLst/>
          </a:prstGeom>
          <a:ln w="0">
            <a:noFill/>
          </a:ln>
        </p:spPr>
      </p:sp>
      <p:sp>
        <p:nvSpPr>
          <p:cNvPr id="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Enter a condition and the system runs a fixed research plan: plan the search, collect sources, screen them and extract exact quotes, then write and check the briefing. Every statement in the briefing points to a quote, and every quote points to the source and the search that found it. The assistant answers questions about the sources and can redo the research from any step, for example with a new date range, in about a minute for the writing step.</a:t>
            </a:r>
            <a:endParaRPr lang="en-US" sz="2000" b="0" u="none" strike="noStrike">
              <a:solidFill>
                <a:srgbClr val="000000"/>
              </a:solidFill>
              <a:effectLst/>
              <a:uFillTx/>
              <a:latin typeface="Arial"/>
            </a:endParaRPr>
          </a:p>
        </p:txBody>
      </p:sp>
      <p:sp>
        <p:nvSpPr>
          <p:cNvPr id="8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B2D9E3-99AB-47E9-BDFA-21DC7ADE3F7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685800" y="1143000"/>
            <a:ext cx="5486040" cy="3085920"/>
          </a:xfrm>
          <a:prstGeom prst="rect">
            <a:avLst/>
          </a:prstGeom>
          <a:ln w="0">
            <a:noFill/>
          </a:ln>
        </p:spPr>
      </p:sp>
      <p:sp>
        <p:nvSpPr>
          <p:cNvPr id="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Value: a first cited draft in about two minutes instead of starting from a blank page, with every claim traceable. In our checks across four runs, 620 of 640 quotes matched their source exactly and the others were flagged by the system; all 45 companies listed were confirmed against the live trial registry. Next steps: deploy on Google Cloud for team access, connect internal documents, add full-text and licensed guideline sources, and add a clinician review step. Briefings are a starting point for analysts, not clinical advice.</a:t>
            </a:r>
            <a:endParaRPr lang="en-US" sz="2000" b="0" u="none" strike="noStrike">
              <a:solidFill>
                <a:srgbClr val="000000"/>
              </a:solidFill>
              <a:effectLst/>
              <a:uFillTx/>
              <a:latin typeface="Arial"/>
            </a:endParaRPr>
          </a:p>
        </p:txBody>
      </p:sp>
      <p:sp>
        <p:nvSpPr>
          <p:cNvPr id="8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1893E76-043B-48B7-8567-FECE8560601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F423701E-DE74-42E0-99C7-463AAB8CC7E6}"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320"/>
            <a:ext cx="8229240" cy="731160"/>
          </a:xfrm>
          <a:prstGeom prst="rect">
            <a:avLst/>
          </a:prstGeom>
          <a:noFill/>
          <a:ln w="0">
            <a:noFill/>
          </a:ln>
        </p:spPr>
        <p:txBody>
          <a:bodyPr lIns="0" tIns="0" rIns="0" bIns="0" anchor="ctr">
            <a:spAutoFit/>
          </a:bodyPr>
          <a:p>
            <a:pPr indent="0" algn="l">
              <a:buNone/>
            </a:pPr>
            <a:endParaRPr lang="en-US" sz="1800" b="0" u="none" strike="noStrike">
              <a:solidFill>
                <a:schemeClr val="dk1"/>
              </a:solidFill>
              <a:effectLst/>
              <a:uFillTx/>
              <a:latin typeface="Calibri"/>
            </a:endParaRPr>
          </a:p>
        </p:txBody>
      </p:sp>
      <p:sp>
        <p:nvSpPr>
          <p:cNvPr id="7"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sldNum" idx="1"/>
          </p:nvPr>
        </p:nvSpPr>
        <p:spPr/>
        <p:txBody>
          <a:bodyPr/>
          <a:p>
            <a:fld id="{7722FBC8-56D6-416B-8404-CEFDE1B685BB}"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4320"/>
            <a:ext cx="8229240" cy="73116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Text 0"/>
          <p:cNvSpPr/>
          <p:nvPr/>
        </p:nvSpPr>
        <p:spPr>
          <a:xfrm>
            <a:off x="457200" y="4754880"/>
            <a:ext cx="54860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chemeClr val="accent6"/>
                </a:solidFill>
                <a:effectLst/>
                <a:uFillTx/>
                <a:latin typeface="Calibri"/>
              </a:rPr>
              <a:t>Condition Briefing demo · October 2026</a:t>
            </a:r>
            <a:endParaRPr lang="en-US" sz="1000" b="0" u="none" strike="noStrike">
              <a:solidFill>
                <a:srgbClr val="000000"/>
              </a:solidFill>
              <a:effectLst/>
              <a:uFillTx/>
              <a:latin typeface="Arial"/>
            </a:endParaRPr>
          </a:p>
        </p:txBody>
      </p:sp>
      <p:sp>
        <p:nvSpPr>
          <p:cNvPr id="4" name="PlaceHolder 2"/>
          <p:cNvSpPr>
            <a:spLocks noGrp="1"/>
          </p:cNvSpPr>
          <p:nvPr>
            <p:ph type="sldNum" idx="1"/>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49C02C91-59E2-4D96-B8F5-2DCAC96D20BA}"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
        <p:nvSpPr>
          <p:cNvPr id="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0" r:id="rId2"/>
    <p:sldLayoutId id="2147483651"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slideLayout" Target="../slideLayouts/slideLayout1.xml"/><Relationship Id="rId8"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chemeClr val="dk2"/>
                </a:solidFill>
                <a:effectLst/>
                <a:uFillTx/>
                <a:latin typeface="Cambria"/>
                <a:ea typeface="Cambria"/>
              </a:rPr>
              <a:t>Thousands of sources behind every briefing</a:t>
            </a:r>
            <a:endParaRPr lang="en-US" sz="2800" b="0" u="none" strike="noStrike">
              <a:solidFill>
                <a:schemeClr val="dk1"/>
              </a:solidFill>
              <a:effectLst/>
              <a:uFillTx/>
              <a:latin typeface="Calibri"/>
            </a:endParaRPr>
          </a:p>
        </p:txBody>
      </p:sp>
      <p:sp>
        <p:nvSpPr>
          <p:cNvPr id="15" name="stats panel"/>
          <p:cNvSpPr/>
          <p:nvPr/>
        </p:nvSpPr>
        <p:spPr>
          <a:xfrm>
            <a:off x="457200" y="1234440"/>
            <a:ext cx="3291480" cy="3245760"/>
          </a:xfrm>
          <a:prstGeom prst="roundRect">
            <a:avLst>
              <a:gd name="adj" fmla="val 3380"/>
            </a:avLst>
          </a:prstGeom>
          <a:solidFill>
            <a:schemeClr val="lt2"/>
          </a:solidFill>
          <a:ln w="12600">
            <a:solidFill>
              <a:schemeClr val="lt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 name="stat 1"/>
          <p:cNvSpPr/>
          <p:nvPr/>
        </p:nvSpPr>
        <p:spPr>
          <a:xfrm>
            <a:off x="731520" y="1417320"/>
            <a:ext cx="2742840" cy="1325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000" b="1" u="none" strike="noStrike">
                <a:solidFill>
                  <a:schemeClr val="accent1"/>
                </a:solidFill>
                <a:effectLst/>
                <a:uFillTx/>
                <a:latin typeface="Cambria"/>
                <a:ea typeface="Cambria"/>
              </a:rPr>
              <a:t>20,000+</a:t>
            </a:r>
            <a:endParaRPr lang="en-US" sz="40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ea typeface="Cambria"/>
              </a:rPr>
              <a:t>PubMed articles matched a single search on type 2 diabetes</a:t>
            </a:r>
            <a:endParaRPr lang="en-US" sz="1400" b="0" u="none" strike="noStrike">
              <a:solidFill>
                <a:srgbClr val="000000"/>
              </a:solidFill>
              <a:effectLst/>
              <a:uFillTx/>
              <a:latin typeface="Arial"/>
            </a:endParaRPr>
          </a:p>
        </p:txBody>
      </p:sp>
      <p:sp>
        <p:nvSpPr>
          <p:cNvPr id="17" name="stat 2"/>
          <p:cNvSpPr/>
          <p:nvPr/>
        </p:nvSpPr>
        <p:spPr>
          <a:xfrm>
            <a:off x="731520" y="2926080"/>
            <a:ext cx="2742840" cy="1325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000" b="1" u="none" strike="noStrike">
                <a:solidFill>
                  <a:schemeClr val="accent1"/>
                </a:solidFill>
                <a:effectLst/>
                <a:uFillTx/>
                <a:latin typeface="Cambria"/>
                <a:ea typeface="Cambria"/>
              </a:rPr>
              <a:t>459</a:t>
            </a:r>
            <a:endParaRPr lang="en-US" sz="40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ea typeface="Cambria"/>
              </a:rPr>
              <a:t>phase 2 and 3 trials registered for the same condition since 2021</a:t>
            </a:r>
            <a:endParaRPr lang="en-US" sz="1400" b="0" u="none" strike="noStrike">
              <a:solidFill>
                <a:srgbClr val="000000"/>
              </a:solidFill>
              <a:effectLst/>
              <a:uFillTx/>
              <a:latin typeface="Arial"/>
            </a:endParaRPr>
          </a:p>
        </p:txBody>
      </p:sp>
      <p:sp>
        <p:nvSpPr>
          <p:cNvPr id="18" name="Scattered circle"/>
          <p:cNvSpPr/>
          <p:nvPr/>
        </p:nvSpPr>
        <p:spPr>
          <a:xfrm>
            <a:off x="4206240" y="1280160"/>
            <a:ext cx="639720" cy="63972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9" name="Scattered icon" descr="preencoded.png"/>
          <p:cNvPicPr/>
          <p:nvPr/>
        </p:nvPicPr>
        <p:blipFill>
          <a:blip r:embed="rId1"/>
          <a:stretch/>
        </p:blipFill>
        <p:spPr>
          <a:xfrm>
            <a:off x="4347000" y="1420920"/>
            <a:ext cx="358200" cy="358200"/>
          </a:xfrm>
          <a:prstGeom prst="rect">
            <a:avLst/>
          </a:prstGeom>
          <a:noFill/>
          <a:ln w="0">
            <a:noFill/>
          </a:ln>
        </p:spPr>
      </p:pic>
      <p:sp>
        <p:nvSpPr>
          <p:cNvPr id="20" name="Scattered text"/>
          <p:cNvSpPr/>
          <p:nvPr/>
        </p:nvSpPr>
        <p:spPr>
          <a:xfrm>
            <a:off x="5029200" y="1234440"/>
            <a:ext cx="365724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Scattered</a:t>
            </a:r>
            <a:endParaRPr lang="en-US" sz="18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Guidelines, trial results and trial registries sit in different places.</a:t>
            </a:r>
            <a:endParaRPr lang="en-US" sz="1400" b="0" u="none" strike="noStrike">
              <a:solidFill>
                <a:srgbClr val="000000"/>
              </a:solidFill>
              <a:effectLst/>
              <a:uFillTx/>
              <a:latin typeface="Arial"/>
            </a:endParaRPr>
          </a:p>
        </p:txBody>
      </p:sp>
      <p:sp>
        <p:nvSpPr>
          <p:cNvPr id="21" name="Hard to trust circle"/>
          <p:cNvSpPr/>
          <p:nvPr/>
        </p:nvSpPr>
        <p:spPr>
          <a:xfrm>
            <a:off x="4206240" y="2377440"/>
            <a:ext cx="639720" cy="63972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2" name="Hard to trust icon" descr="preencoded.png"/>
          <p:cNvPicPr/>
          <p:nvPr/>
        </p:nvPicPr>
        <p:blipFill>
          <a:blip r:embed="rId2"/>
          <a:stretch/>
        </p:blipFill>
        <p:spPr>
          <a:xfrm>
            <a:off x="4347000" y="2518200"/>
            <a:ext cx="358200" cy="358200"/>
          </a:xfrm>
          <a:prstGeom prst="rect">
            <a:avLst/>
          </a:prstGeom>
          <a:noFill/>
          <a:ln w="0">
            <a:noFill/>
          </a:ln>
        </p:spPr>
      </p:pic>
      <p:sp>
        <p:nvSpPr>
          <p:cNvPr id="23" name="Hard to trust text"/>
          <p:cNvSpPr/>
          <p:nvPr/>
        </p:nvSpPr>
        <p:spPr>
          <a:xfrm>
            <a:off x="5029200" y="2331720"/>
            <a:ext cx="365724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Hard to trust</a:t>
            </a:r>
            <a:endParaRPr lang="en-US" sz="18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A summary rarely shows which source each statement came from.</a:t>
            </a:r>
            <a:endParaRPr lang="en-US" sz="1400" b="0" u="none" strike="noStrike">
              <a:solidFill>
                <a:srgbClr val="000000"/>
              </a:solidFill>
              <a:effectLst/>
              <a:uFillTx/>
              <a:latin typeface="Arial"/>
            </a:endParaRPr>
          </a:p>
        </p:txBody>
      </p:sp>
      <p:sp>
        <p:nvSpPr>
          <p:cNvPr id="24" name="Slow to change circle"/>
          <p:cNvSpPr/>
          <p:nvPr/>
        </p:nvSpPr>
        <p:spPr>
          <a:xfrm>
            <a:off x="4206240" y="3474720"/>
            <a:ext cx="639720" cy="63972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5" name="Slow to change icon" descr="preencoded.png"/>
          <p:cNvPicPr/>
          <p:nvPr/>
        </p:nvPicPr>
        <p:blipFill>
          <a:blip r:embed="rId3"/>
          <a:stretch/>
        </p:blipFill>
        <p:spPr>
          <a:xfrm>
            <a:off x="4347000" y="3615480"/>
            <a:ext cx="358200" cy="358200"/>
          </a:xfrm>
          <a:prstGeom prst="rect">
            <a:avLst/>
          </a:prstGeom>
          <a:noFill/>
          <a:ln w="0">
            <a:noFill/>
          </a:ln>
        </p:spPr>
      </p:pic>
      <p:sp>
        <p:nvSpPr>
          <p:cNvPr id="26" name="Slow to change text"/>
          <p:cNvSpPr/>
          <p:nvPr/>
        </p:nvSpPr>
        <p:spPr>
          <a:xfrm>
            <a:off x="5029200" y="3429000"/>
            <a:ext cx="365724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Calibri"/>
              </a:rPr>
              <a:t>Slow to change</a:t>
            </a:r>
            <a:endParaRPr lang="en-US" sz="18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alibri"/>
              </a:rPr>
              <a:t>A new question or date range means doing the reading again.</a:t>
            </a:r>
            <a:endParaRPr lang="en-US" sz="1400" b="0" u="none" strike="noStrike">
              <a:solidFill>
                <a:srgbClr val="000000"/>
              </a:solidFill>
              <a:effectLst/>
              <a:uFillTx/>
              <a:latin typeface="Arial"/>
            </a:endParaRPr>
          </a:p>
        </p:txBody>
      </p:sp>
      <p:sp>
        <p:nvSpPr>
          <p:cNvPr id="27" name="PlaceHolder 2"/>
          <p:cNvSpPr>
            <a:spLocks noGrp="1"/>
          </p:cNvSpPr>
          <p:nvPr>
            <p:ph type="sldNum" idx="5"/>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A874E8C3-69E9-4FA9-B62D-3887B474B394}"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chemeClr val="dk2"/>
                </a:solidFill>
                <a:effectLst/>
                <a:uFillTx/>
                <a:latin typeface="Cambria"/>
                <a:ea typeface="Cambria"/>
              </a:rPr>
              <a:t>A research assistant that shows its sources</a:t>
            </a:r>
            <a:endParaRPr lang="en-US" sz="2800" b="0" u="none" strike="noStrike">
              <a:solidFill>
                <a:schemeClr val="dk1"/>
              </a:solidFill>
              <a:effectLst/>
              <a:uFillTx/>
              <a:latin typeface="Calibri"/>
            </a:endParaRPr>
          </a:p>
        </p:txBody>
      </p:sp>
      <p:sp>
        <p:nvSpPr>
          <p:cNvPr id="29" name="Plan circle"/>
          <p:cNvSpPr/>
          <p:nvPr/>
        </p:nvSpPr>
        <p:spPr>
          <a:xfrm>
            <a:off x="1097280" y="1234440"/>
            <a:ext cx="639720" cy="639720"/>
          </a:xfrm>
          <a:prstGeom prst="ellipse">
            <a:avLst/>
          </a:prstGeom>
          <a:solidFill>
            <a:schemeClr val="accent1"/>
          </a:solidFill>
          <a:ln w="12600">
            <a:solidFill>
              <a:schemeClr val="accent1"/>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0" name="Plan icon" descr="preencoded.png"/>
          <p:cNvPicPr/>
          <p:nvPr/>
        </p:nvPicPr>
        <p:blipFill>
          <a:blip r:embed="rId1"/>
          <a:stretch/>
        </p:blipFill>
        <p:spPr>
          <a:xfrm>
            <a:off x="1238040" y="1375200"/>
            <a:ext cx="358200" cy="358200"/>
          </a:xfrm>
          <a:prstGeom prst="rect">
            <a:avLst/>
          </a:prstGeom>
          <a:noFill/>
          <a:ln w="0">
            <a:noFill/>
          </a:ln>
        </p:spPr>
      </p:pic>
      <p:sp>
        <p:nvSpPr>
          <p:cNvPr id="31" name="Plan label"/>
          <p:cNvSpPr/>
          <p:nvPr/>
        </p:nvSpPr>
        <p:spPr>
          <a:xfrm>
            <a:off x="457200" y="1965960"/>
            <a:ext cx="19198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2"/>
                </a:solidFill>
                <a:effectLst/>
                <a:uFillTx/>
                <a:latin typeface="Calibri"/>
              </a:rPr>
              <a:t>Plan</a:t>
            </a:r>
            <a:endParaRPr lang="en-US" sz="1600" b="0" u="none" strike="noStrike">
              <a:solidFill>
                <a:srgbClr val="000000"/>
              </a:solidFill>
              <a:effectLst/>
              <a:uFillTx/>
              <a:latin typeface="Arial"/>
            </a:endParaRPr>
          </a:p>
        </p:txBody>
      </p:sp>
      <p:sp>
        <p:nvSpPr>
          <p:cNvPr id="32" name="Plan text"/>
          <p:cNvSpPr/>
          <p:nvPr/>
        </p:nvSpPr>
        <p:spPr>
          <a:xfrm>
            <a:off x="457200" y="2286000"/>
            <a:ext cx="1919880" cy="594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dk1"/>
                </a:solidFill>
                <a:effectLst/>
                <a:uFillTx/>
                <a:latin typeface="Calibri"/>
              </a:rPr>
              <a:t>Turns the condition into searches</a:t>
            </a:r>
            <a:endParaRPr lang="en-US" sz="1200" b="0" u="none" strike="noStrike">
              <a:solidFill>
                <a:srgbClr val="000000"/>
              </a:solidFill>
              <a:effectLst/>
              <a:uFillTx/>
              <a:latin typeface="Arial"/>
            </a:endParaRPr>
          </a:p>
        </p:txBody>
      </p:sp>
      <p:sp>
        <p:nvSpPr>
          <p:cNvPr id="33" name="arrow 1"/>
          <p:cNvSpPr/>
          <p:nvPr/>
        </p:nvSpPr>
        <p:spPr>
          <a:xfrm>
            <a:off x="1874520" y="1554480"/>
            <a:ext cx="1188720" cy="360"/>
          </a:xfrm>
          <a:prstGeom prst="line">
            <a:avLst/>
          </a:prstGeom>
          <a:ln w="19080">
            <a:solidFill>
              <a:schemeClr val="accent4"/>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4" name="Collect circle"/>
          <p:cNvSpPr/>
          <p:nvPr/>
        </p:nvSpPr>
        <p:spPr>
          <a:xfrm>
            <a:off x="3200400" y="1234440"/>
            <a:ext cx="639720" cy="639720"/>
          </a:xfrm>
          <a:prstGeom prst="ellipse">
            <a:avLst/>
          </a:prstGeom>
          <a:solidFill>
            <a:schemeClr val="accent1"/>
          </a:solidFill>
          <a:ln w="12600">
            <a:solidFill>
              <a:schemeClr val="accent1"/>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5" name="Collect icon" descr="preencoded.png"/>
          <p:cNvPicPr/>
          <p:nvPr/>
        </p:nvPicPr>
        <p:blipFill>
          <a:blip r:embed="rId2"/>
          <a:stretch/>
        </p:blipFill>
        <p:spPr>
          <a:xfrm>
            <a:off x="3341160" y="1375200"/>
            <a:ext cx="358200" cy="358200"/>
          </a:xfrm>
          <a:prstGeom prst="rect">
            <a:avLst/>
          </a:prstGeom>
          <a:noFill/>
          <a:ln w="0">
            <a:noFill/>
          </a:ln>
        </p:spPr>
      </p:pic>
      <p:sp>
        <p:nvSpPr>
          <p:cNvPr id="36" name="Collect label"/>
          <p:cNvSpPr/>
          <p:nvPr/>
        </p:nvSpPr>
        <p:spPr>
          <a:xfrm>
            <a:off x="2560320" y="1965960"/>
            <a:ext cx="19198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2"/>
                </a:solidFill>
                <a:effectLst/>
                <a:uFillTx/>
                <a:latin typeface="Calibri"/>
              </a:rPr>
              <a:t>Collect</a:t>
            </a:r>
            <a:endParaRPr lang="en-US" sz="1600" b="0" u="none" strike="noStrike">
              <a:solidFill>
                <a:srgbClr val="000000"/>
              </a:solidFill>
              <a:effectLst/>
              <a:uFillTx/>
              <a:latin typeface="Arial"/>
            </a:endParaRPr>
          </a:p>
        </p:txBody>
      </p:sp>
      <p:sp>
        <p:nvSpPr>
          <p:cNvPr id="37" name="Collect text"/>
          <p:cNvSpPr/>
          <p:nvPr/>
        </p:nvSpPr>
        <p:spPr>
          <a:xfrm>
            <a:off x="2560320" y="2286000"/>
            <a:ext cx="1919880" cy="594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dk1"/>
                </a:solidFill>
                <a:effectLst/>
                <a:uFillTx/>
                <a:latin typeface="Calibri"/>
              </a:rPr>
              <a:t>Pulls papers from PubMed and trials from ClinicalTrials.gov</a:t>
            </a:r>
            <a:endParaRPr lang="en-US" sz="1200" b="0" u="none" strike="noStrike">
              <a:solidFill>
                <a:srgbClr val="000000"/>
              </a:solidFill>
              <a:effectLst/>
              <a:uFillTx/>
              <a:latin typeface="Arial"/>
            </a:endParaRPr>
          </a:p>
        </p:txBody>
      </p:sp>
      <p:sp>
        <p:nvSpPr>
          <p:cNvPr id="38" name="arrow 2"/>
          <p:cNvSpPr/>
          <p:nvPr/>
        </p:nvSpPr>
        <p:spPr>
          <a:xfrm>
            <a:off x="3977640" y="1554480"/>
            <a:ext cx="1188720" cy="360"/>
          </a:xfrm>
          <a:prstGeom prst="line">
            <a:avLst/>
          </a:prstGeom>
          <a:ln w="19080">
            <a:solidFill>
              <a:schemeClr val="accent4"/>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9" name="Screen circle"/>
          <p:cNvSpPr/>
          <p:nvPr/>
        </p:nvSpPr>
        <p:spPr>
          <a:xfrm>
            <a:off x="5303520" y="1234440"/>
            <a:ext cx="639720" cy="639720"/>
          </a:xfrm>
          <a:prstGeom prst="ellipse">
            <a:avLst/>
          </a:prstGeom>
          <a:solidFill>
            <a:schemeClr val="accent1"/>
          </a:solidFill>
          <a:ln w="12600">
            <a:solidFill>
              <a:schemeClr val="accent1"/>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0" name="Screen icon" descr="preencoded.png"/>
          <p:cNvPicPr/>
          <p:nvPr/>
        </p:nvPicPr>
        <p:blipFill>
          <a:blip r:embed="rId3"/>
          <a:stretch/>
        </p:blipFill>
        <p:spPr>
          <a:xfrm>
            <a:off x="5444280" y="1375200"/>
            <a:ext cx="358200" cy="358200"/>
          </a:xfrm>
          <a:prstGeom prst="rect">
            <a:avLst/>
          </a:prstGeom>
          <a:noFill/>
          <a:ln w="0">
            <a:noFill/>
          </a:ln>
        </p:spPr>
      </p:pic>
      <p:sp>
        <p:nvSpPr>
          <p:cNvPr id="41" name="Screen label"/>
          <p:cNvSpPr/>
          <p:nvPr/>
        </p:nvSpPr>
        <p:spPr>
          <a:xfrm>
            <a:off x="4663440" y="1965960"/>
            <a:ext cx="19198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2"/>
                </a:solidFill>
                <a:effectLst/>
                <a:uFillTx/>
                <a:latin typeface="Calibri"/>
              </a:rPr>
              <a:t>Screen</a:t>
            </a:r>
            <a:endParaRPr lang="en-US" sz="1600" b="0" u="none" strike="noStrike">
              <a:solidFill>
                <a:srgbClr val="000000"/>
              </a:solidFill>
              <a:effectLst/>
              <a:uFillTx/>
              <a:latin typeface="Arial"/>
            </a:endParaRPr>
          </a:p>
        </p:txBody>
      </p:sp>
      <p:sp>
        <p:nvSpPr>
          <p:cNvPr id="42" name="Screen text"/>
          <p:cNvSpPr/>
          <p:nvPr/>
        </p:nvSpPr>
        <p:spPr>
          <a:xfrm>
            <a:off x="4663440" y="2286000"/>
            <a:ext cx="1919880" cy="594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dk1"/>
                </a:solidFill>
                <a:effectLst/>
                <a:uFillTx/>
                <a:latin typeface="Calibri"/>
              </a:rPr>
              <a:t>Keeps relevant sources and copies exact quotes</a:t>
            </a:r>
            <a:endParaRPr lang="en-US" sz="1200" b="0" u="none" strike="noStrike">
              <a:solidFill>
                <a:srgbClr val="000000"/>
              </a:solidFill>
              <a:effectLst/>
              <a:uFillTx/>
              <a:latin typeface="Arial"/>
            </a:endParaRPr>
          </a:p>
        </p:txBody>
      </p:sp>
      <p:sp>
        <p:nvSpPr>
          <p:cNvPr id="43" name="arrow 3"/>
          <p:cNvSpPr/>
          <p:nvPr/>
        </p:nvSpPr>
        <p:spPr>
          <a:xfrm>
            <a:off x="6080760" y="1554480"/>
            <a:ext cx="1188720" cy="360"/>
          </a:xfrm>
          <a:prstGeom prst="line">
            <a:avLst/>
          </a:prstGeom>
          <a:ln w="19080">
            <a:solidFill>
              <a:schemeClr val="accent4"/>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4" name="Write and check circle"/>
          <p:cNvSpPr/>
          <p:nvPr/>
        </p:nvSpPr>
        <p:spPr>
          <a:xfrm>
            <a:off x="7406640" y="1234440"/>
            <a:ext cx="639720" cy="639720"/>
          </a:xfrm>
          <a:prstGeom prst="ellipse">
            <a:avLst/>
          </a:prstGeom>
          <a:solidFill>
            <a:schemeClr val="accent1"/>
          </a:solidFill>
          <a:ln w="12600">
            <a:solidFill>
              <a:schemeClr val="accent1"/>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5" name="Write and check icon" descr="preencoded.png"/>
          <p:cNvPicPr/>
          <p:nvPr/>
        </p:nvPicPr>
        <p:blipFill>
          <a:blip r:embed="rId4"/>
          <a:stretch/>
        </p:blipFill>
        <p:spPr>
          <a:xfrm>
            <a:off x="7547400" y="1375200"/>
            <a:ext cx="358200" cy="358200"/>
          </a:xfrm>
          <a:prstGeom prst="rect">
            <a:avLst/>
          </a:prstGeom>
          <a:noFill/>
          <a:ln w="0">
            <a:noFill/>
          </a:ln>
        </p:spPr>
      </p:pic>
      <p:sp>
        <p:nvSpPr>
          <p:cNvPr id="46" name="Write and check label"/>
          <p:cNvSpPr/>
          <p:nvPr/>
        </p:nvSpPr>
        <p:spPr>
          <a:xfrm>
            <a:off x="6766560" y="1965960"/>
            <a:ext cx="191988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chemeClr val="dk2"/>
                </a:solidFill>
                <a:effectLst/>
                <a:uFillTx/>
                <a:latin typeface="Calibri"/>
              </a:rPr>
              <a:t>Write and check</a:t>
            </a:r>
            <a:endParaRPr lang="en-US" sz="1600" b="0" u="none" strike="noStrike">
              <a:solidFill>
                <a:srgbClr val="000000"/>
              </a:solidFill>
              <a:effectLst/>
              <a:uFillTx/>
              <a:latin typeface="Arial"/>
            </a:endParaRPr>
          </a:p>
        </p:txBody>
      </p:sp>
      <p:sp>
        <p:nvSpPr>
          <p:cNvPr id="47" name="Write and check text"/>
          <p:cNvSpPr/>
          <p:nvPr/>
        </p:nvSpPr>
        <p:spPr>
          <a:xfrm>
            <a:off x="6766560" y="2286000"/>
            <a:ext cx="1919880" cy="5940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u="none" strike="noStrike">
                <a:solidFill>
                  <a:schemeClr val="dk1"/>
                </a:solidFill>
                <a:effectLst/>
                <a:uFillTx/>
                <a:latin typeface="Calibri"/>
              </a:rPr>
              <a:t>Drafts the briefing and checks every quote</a:t>
            </a:r>
            <a:endParaRPr lang="en-US" sz="1200" b="0" u="none" strike="noStrike">
              <a:solidFill>
                <a:srgbClr val="000000"/>
              </a:solidFill>
              <a:effectLst/>
              <a:uFillTx/>
              <a:latin typeface="Arial"/>
            </a:endParaRPr>
          </a:p>
        </p:txBody>
      </p:sp>
      <p:sp>
        <p:nvSpPr>
          <p:cNvPr id="48" name="card 1"/>
          <p:cNvSpPr/>
          <p:nvPr/>
        </p:nvSpPr>
        <p:spPr>
          <a:xfrm>
            <a:off x="457200" y="3063240"/>
            <a:ext cx="4023000" cy="1325520"/>
          </a:xfrm>
          <a:prstGeom prst="roundRect">
            <a:avLst>
              <a:gd name="adj" fmla="val 8276"/>
            </a:avLst>
          </a:prstGeom>
          <a:solidFill>
            <a:schemeClr val="lt2"/>
          </a:solidFill>
          <a:ln w="12600">
            <a:solidFill>
              <a:schemeClr val="lt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Every claim links to a quote circle"/>
          <p:cNvSpPr/>
          <p:nvPr/>
        </p:nvSpPr>
        <p:spPr>
          <a:xfrm>
            <a:off x="685800" y="3246120"/>
            <a:ext cx="548280" cy="54828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0" name="Every claim links to a quote icon" descr="preencoded.png"/>
          <p:cNvPicPr/>
          <p:nvPr/>
        </p:nvPicPr>
        <p:blipFill>
          <a:blip r:embed="rId5"/>
          <a:stretch/>
        </p:blipFill>
        <p:spPr>
          <a:xfrm>
            <a:off x="806400" y="3366720"/>
            <a:ext cx="306720" cy="306720"/>
          </a:xfrm>
          <a:prstGeom prst="rect">
            <a:avLst/>
          </a:prstGeom>
          <a:noFill/>
          <a:ln w="0">
            <a:noFill/>
          </a:ln>
        </p:spPr>
      </p:pic>
      <p:sp>
        <p:nvSpPr>
          <p:cNvPr id="51" name="Every claim links to a quote text"/>
          <p:cNvSpPr/>
          <p:nvPr/>
        </p:nvSpPr>
        <p:spPr>
          <a:xfrm>
            <a:off x="1417320" y="3200400"/>
            <a:ext cx="288000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Every claim links to a quote</a:t>
            </a:r>
            <a:endParaRPr lang="en-US" sz="16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Click a citation to open the source. Each quote is checked word for word against the original.</a:t>
            </a:r>
            <a:endParaRPr lang="en-US" sz="1300" b="0" u="none" strike="noStrike">
              <a:solidFill>
                <a:srgbClr val="000000"/>
              </a:solidFill>
              <a:effectLst/>
              <a:uFillTx/>
              <a:latin typeface="Arial"/>
            </a:endParaRPr>
          </a:p>
        </p:txBody>
      </p:sp>
      <p:sp>
        <p:nvSpPr>
          <p:cNvPr id="52" name="card 2"/>
          <p:cNvSpPr/>
          <p:nvPr/>
        </p:nvSpPr>
        <p:spPr>
          <a:xfrm>
            <a:off x="4663440" y="3063240"/>
            <a:ext cx="4023000" cy="1325520"/>
          </a:xfrm>
          <a:prstGeom prst="roundRect">
            <a:avLst>
              <a:gd name="adj" fmla="val 8276"/>
            </a:avLst>
          </a:prstGeom>
          <a:solidFill>
            <a:schemeClr val="lt2"/>
          </a:solidFill>
          <a:ln w="12600">
            <a:solidFill>
              <a:schemeClr val="lt2"/>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 name="Ask in plain words circle"/>
          <p:cNvSpPr/>
          <p:nvPr/>
        </p:nvSpPr>
        <p:spPr>
          <a:xfrm>
            <a:off x="4892040" y="3246120"/>
            <a:ext cx="548280" cy="54828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4" name="Ask in plain words icon" descr="preencoded.png"/>
          <p:cNvPicPr/>
          <p:nvPr/>
        </p:nvPicPr>
        <p:blipFill>
          <a:blip r:embed="rId6"/>
          <a:stretch/>
        </p:blipFill>
        <p:spPr>
          <a:xfrm>
            <a:off x="5012640" y="3366720"/>
            <a:ext cx="306720" cy="306720"/>
          </a:xfrm>
          <a:prstGeom prst="rect">
            <a:avLst/>
          </a:prstGeom>
          <a:noFill/>
          <a:ln w="0">
            <a:noFill/>
          </a:ln>
        </p:spPr>
      </p:pic>
      <p:sp>
        <p:nvSpPr>
          <p:cNvPr id="55" name="Ask in plain words text"/>
          <p:cNvSpPr/>
          <p:nvPr/>
        </p:nvSpPr>
        <p:spPr>
          <a:xfrm>
            <a:off x="5623560" y="3200400"/>
            <a:ext cx="288000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chemeClr val="dk2"/>
                </a:solidFill>
                <a:effectLst/>
                <a:uFillTx/>
                <a:latin typeface="Calibri"/>
              </a:rPr>
              <a:t>Ask in plain words</a:t>
            </a:r>
            <a:endParaRPr lang="en-US" sz="16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dk1"/>
                </a:solidFill>
                <a:effectLst/>
                <a:uFillTx/>
                <a:latin typeface="Calibri"/>
              </a:rPr>
              <a:t>"Why is this in the report?" or "Only use studies from 2024". It re-runs just the affected steps.</a:t>
            </a:r>
            <a:endParaRPr lang="en-US" sz="1300" b="0" u="none" strike="noStrike">
              <a:solidFill>
                <a:srgbClr val="000000"/>
              </a:solidFill>
              <a:effectLst/>
              <a:uFillTx/>
              <a:latin typeface="Arial"/>
            </a:endParaRPr>
          </a:p>
        </p:txBody>
      </p:sp>
      <p:sp>
        <p:nvSpPr>
          <p:cNvPr id="56" name="tested caption"/>
          <p:cNvSpPr/>
          <p:nvPr/>
        </p:nvSpPr>
        <p:spPr>
          <a:xfrm>
            <a:off x="457200" y="4462200"/>
            <a:ext cx="822924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i="1" u="none" strike="noStrike">
                <a:solidFill>
                  <a:schemeClr val="accent6"/>
                </a:solidFill>
                <a:effectLst/>
                <a:uFillTx/>
                <a:latin typeface="Calibri"/>
              </a:rPr>
              <a:t>Tested on type 2 diabetes, psoriasis, migraine, rheumatoid arthritis and lung cancer.</a:t>
            </a:r>
            <a:endParaRPr lang="en-US" sz="1100" b="0" u="none" strike="noStrike">
              <a:solidFill>
                <a:srgbClr val="000000"/>
              </a:solidFill>
              <a:effectLst/>
              <a:uFillTx/>
              <a:latin typeface="Arial"/>
            </a:endParaRPr>
          </a:p>
        </p:txBody>
      </p:sp>
      <p:sp>
        <p:nvSpPr>
          <p:cNvPr id="57" name="PlaceHolder 2"/>
          <p:cNvSpPr>
            <a:spLocks noGrp="1"/>
          </p:cNvSpPr>
          <p:nvPr>
            <p:ph type="sldNum" idx="6"/>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2253E629-464B-4EA1-8AF0-DCA480C98C68}"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240" cy="7311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2800" b="1" u="none" strike="noStrike">
                <a:solidFill>
                  <a:schemeClr val="dk2"/>
                </a:solidFill>
                <a:effectLst/>
                <a:uFillTx/>
                <a:latin typeface="Cambria"/>
                <a:ea typeface="Cambria"/>
              </a:rPr>
              <a:t>Value today, and the next steps</a:t>
            </a:r>
            <a:endParaRPr lang="en-US" sz="2800" b="0" u="none" strike="noStrike">
              <a:solidFill>
                <a:schemeClr val="dk1"/>
              </a:solidFill>
              <a:effectLst/>
              <a:uFillTx/>
              <a:latin typeface="Calibri"/>
            </a:endParaRPr>
          </a:p>
        </p:txBody>
      </p:sp>
      <p:sp>
        <p:nvSpPr>
          <p:cNvPr id="59" name="value panel"/>
          <p:cNvSpPr/>
          <p:nvPr/>
        </p:nvSpPr>
        <p:spPr>
          <a:xfrm>
            <a:off x="457200" y="1234440"/>
            <a:ext cx="4023000" cy="3291480"/>
          </a:xfrm>
          <a:prstGeom prst="roundRect">
            <a:avLst>
              <a:gd name="adj" fmla="val 3333"/>
            </a:avLst>
          </a:prstGeom>
          <a:solidFill>
            <a:schemeClr val="accent1"/>
          </a:solidFill>
          <a:ln w="12600">
            <a:solidFill>
              <a:schemeClr val="accent1"/>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 name="value header"/>
          <p:cNvSpPr/>
          <p:nvPr/>
        </p:nvSpPr>
        <p:spPr>
          <a:xfrm>
            <a:off x="731520" y="1371600"/>
            <a:ext cx="3565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lt1"/>
                </a:solidFill>
                <a:effectLst/>
                <a:uFillTx/>
                <a:latin typeface="Calibri"/>
              </a:rPr>
              <a:t>What it gives the team</a:t>
            </a:r>
            <a:endParaRPr lang="en-US" sz="1800" b="0" u="none" strike="noStrike">
              <a:solidFill>
                <a:srgbClr val="000000"/>
              </a:solidFill>
              <a:effectLst/>
              <a:uFillTx/>
              <a:latin typeface="Arial"/>
            </a:endParaRPr>
          </a:p>
        </p:txBody>
      </p:sp>
      <p:sp>
        <p:nvSpPr>
          <p:cNvPr id="61" name="value stat 1"/>
          <p:cNvSpPr/>
          <p:nvPr/>
        </p:nvSpPr>
        <p:spPr>
          <a:xfrm>
            <a:off x="731520" y="1874520"/>
            <a:ext cx="1416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chemeClr val="lt1"/>
                </a:solidFill>
                <a:effectLst/>
                <a:uFillTx/>
                <a:latin typeface="Cambria"/>
                <a:ea typeface="Cambria"/>
              </a:rPr>
              <a:t>2 min</a:t>
            </a:r>
            <a:endParaRPr lang="en-US" sz="2600" b="0" u="none" strike="noStrike">
              <a:solidFill>
                <a:srgbClr val="000000"/>
              </a:solidFill>
              <a:effectLst/>
              <a:uFillTx/>
              <a:latin typeface="Arial"/>
            </a:endParaRPr>
          </a:p>
        </p:txBody>
      </p:sp>
      <p:sp>
        <p:nvSpPr>
          <p:cNvPr id="62" name="value label 1"/>
          <p:cNvSpPr/>
          <p:nvPr/>
        </p:nvSpPr>
        <p:spPr>
          <a:xfrm>
            <a:off x="2240280" y="1874520"/>
            <a:ext cx="205704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lt2"/>
                </a:solidFill>
                <a:effectLst/>
                <a:uFillTx/>
                <a:latin typeface="Calibri"/>
              </a:rPr>
              <a:t>for a first cited briefing on a new condition</a:t>
            </a:r>
            <a:endParaRPr lang="en-US" sz="1300" b="0" u="none" strike="noStrike">
              <a:solidFill>
                <a:srgbClr val="000000"/>
              </a:solidFill>
              <a:effectLst/>
              <a:uFillTx/>
              <a:latin typeface="Arial"/>
            </a:endParaRPr>
          </a:p>
        </p:txBody>
      </p:sp>
      <p:sp>
        <p:nvSpPr>
          <p:cNvPr id="63" name="value stat 2"/>
          <p:cNvSpPr/>
          <p:nvPr/>
        </p:nvSpPr>
        <p:spPr>
          <a:xfrm>
            <a:off x="731520" y="2743200"/>
            <a:ext cx="1416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chemeClr val="lt1"/>
                </a:solidFill>
                <a:effectLst/>
                <a:uFillTx/>
                <a:latin typeface="Cambria"/>
                <a:ea typeface="Cambria"/>
              </a:rPr>
              <a:t>97%</a:t>
            </a:r>
            <a:endParaRPr lang="en-US" sz="2600" b="0" u="none" strike="noStrike">
              <a:solidFill>
                <a:srgbClr val="000000"/>
              </a:solidFill>
              <a:effectLst/>
              <a:uFillTx/>
              <a:latin typeface="Arial"/>
            </a:endParaRPr>
          </a:p>
        </p:txBody>
      </p:sp>
      <p:sp>
        <p:nvSpPr>
          <p:cNvPr id="64" name="value label 2"/>
          <p:cNvSpPr/>
          <p:nvPr/>
        </p:nvSpPr>
        <p:spPr>
          <a:xfrm>
            <a:off x="2240280" y="2743200"/>
            <a:ext cx="205704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lt2"/>
                </a:solidFill>
                <a:effectLst/>
                <a:uFillTx/>
                <a:latin typeface="Calibri"/>
              </a:rPr>
              <a:t>of 640 quotes match the source word for word; the rest are flagged</a:t>
            </a:r>
            <a:endParaRPr lang="en-US" sz="1300" b="0" u="none" strike="noStrike">
              <a:solidFill>
                <a:srgbClr val="000000"/>
              </a:solidFill>
              <a:effectLst/>
              <a:uFillTx/>
              <a:latin typeface="Arial"/>
            </a:endParaRPr>
          </a:p>
        </p:txBody>
      </p:sp>
      <p:sp>
        <p:nvSpPr>
          <p:cNvPr id="65" name="value stat 3"/>
          <p:cNvSpPr/>
          <p:nvPr/>
        </p:nvSpPr>
        <p:spPr>
          <a:xfrm>
            <a:off x="731520" y="3611880"/>
            <a:ext cx="1416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chemeClr val="lt1"/>
                </a:solidFill>
                <a:effectLst/>
                <a:uFillTx/>
                <a:latin typeface="Cambria"/>
                <a:ea typeface="Cambria"/>
              </a:rPr>
              <a:t>45 of 45</a:t>
            </a:r>
            <a:endParaRPr lang="en-US" sz="2600" b="0" u="none" strike="noStrike">
              <a:solidFill>
                <a:srgbClr val="000000"/>
              </a:solidFill>
              <a:effectLst/>
              <a:uFillTx/>
              <a:latin typeface="Arial"/>
            </a:endParaRPr>
          </a:p>
        </p:txBody>
      </p:sp>
      <p:sp>
        <p:nvSpPr>
          <p:cNvPr id="66" name="value label 3"/>
          <p:cNvSpPr/>
          <p:nvPr/>
        </p:nvSpPr>
        <p:spPr>
          <a:xfrm>
            <a:off x="2240280" y="3611880"/>
            <a:ext cx="205704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lt2"/>
                </a:solidFill>
                <a:effectLst/>
                <a:uFillTx/>
                <a:latin typeface="Calibri"/>
              </a:rPr>
              <a:t>companies confirmed against live trial registry data</a:t>
            </a:r>
            <a:endParaRPr lang="en-US" sz="1300" b="0" u="none" strike="noStrike">
              <a:solidFill>
                <a:srgbClr val="000000"/>
              </a:solidFill>
              <a:effectLst/>
              <a:uFillTx/>
              <a:latin typeface="Arial"/>
            </a:endParaRPr>
          </a:p>
        </p:txBody>
      </p:sp>
      <p:sp>
        <p:nvSpPr>
          <p:cNvPr id="67" name="next header"/>
          <p:cNvSpPr/>
          <p:nvPr/>
        </p:nvSpPr>
        <p:spPr>
          <a:xfrm>
            <a:off x="4846320" y="1371600"/>
            <a:ext cx="384012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2"/>
                </a:solidFill>
                <a:effectLst/>
                <a:uFillTx/>
                <a:latin typeface="Calibri"/>
              </a:rPr>
              <a:t>Next</a:t>
            </a:r>
            <a:endParaRPr lang="en-US" sz="1800" b="0" u="none" strike="noStrike">
              <a:solidFill>
                <a:srgbClr val="000000"/>
              </a:solidFill>
              <a:effectLst/>
              <a:uFillTx/>
              <a:latin typeface="Arial"/>
            </a:endParaRPr>
          </a:p>
        </p:txBody>
      </p:sp>
      <p:sp>
        <p:nvSpPr>
          <p:cNvPr id="68" name="next number 1"/>
          <p:cNvSpPr/>
          <p:nvPr/>
        </p:nvSpPr>
        <p:spPr>
          <a:xfrm>
            <a:off x="4846320" y="1947600"/>
            <a:ext cx="383760" cy="38376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 name="next digit 1"/>
          <p:cNvSpPr/>
          <p:nvPr/>
        </p:nvSpPr>
        <p:spPr>
          <a:xfrm>
            <a:off x="4846320" y="194760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1</a:t>
            </a:r>
            <a:endParaRPr lang="en-US" sz="1400" b="0" u="none" strike="noStrike">
              <a:solidFill>
                <a:srgbClr val="000000"/>
              </a:solidFill>
              <a:effectLst/>
              <a:uFillTx/>
              <a:latin typeface="Arial"/>
            </a:endParaRPr>
          </a:p>
        </p:txBody>
      </p:sp>
      <p:sp>
        <p:nvSpPr>
          <p:cNvPr id="70" name="next item 1"/>
          <p:cNvSpPr/>
          <p:nvPr/>
        </p:nvSpPr>
        <p:spPr>
          <a:xfrm>
            <a:off x="5394960" y="1874520"/>
            <a:ext cx="32914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Put it on Google Cloud so the whole team can use it</a:t>
            </a:r>
            <a:endParaRPr lang="en-US" sz="1400" b="0" u="none" strike="noStrike">
              <a:solidFill>
                <a:srgbClr val="000000"/>
              </a:solidFill>
              <a:effectLst/>
              <a:uFillTx/>
              <a:latin typeface="Arial"/>
            </a:endParaRPr>
          </a:p>
        </p:txBody>
      </p:sp>
      <p:sp>
        <p:nvSpPr>
          <p:cNvPr id="71" name="next number 2"/>
          <p:cNvSpPr/>
          <p:nvPr/>
        </p:nvSpPr>
        <p:spPr>
          <a:xfrm>
            <a:off x="4846320" y="2606040"/>
            <a:ext cx="383760" cy="38376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2" name="next digit 2"/>
          <p:cNvSpPr/>
          <p:nvPr/>
        </p:nvSpPr>
        <p:spPr>
          <a:xfrm>
            <a:off x="4846320" y="260604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2</a:t>
            </a:r>
            <a:endParaRPr lang="en-US" sz="1400" b="0" u="none" strike="noStrike">
              <a:solidFill>
                <a:srgbClr val="000000"/>
              </a:solidFill>
              <a:effectLst/>
              <a:uFillTx/>
              <a:latin typeface="Arial"/>
            </a:endParaRPr>
          </a:p>
        </p:txBody>
      </p:sp>
      <p:sp>
        <p:nvSpPr>
          <p:cNvPr id="73" name="next item 2"/>
          <p:cNvSpPr/>
          <p:nvPr/>
        </p:nvSpPr>
        <p:spPr>
          <a:xfrm>
            <a:off x="5394960" y="2532960"/>
            <a:ext cx="32914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Add our own documents: past strategy memos, service line data</a:t>
            </a:r>
            <a:endParaRPr lang="en-US" sz="1400" b="0" u="none" strike="noStrike">
              <a:solidFill>
                <a:srgbClr val="000000"/>
              </a:solidFill>
              <a:effectLst/>
              <a:uFillTx/>
              <a:latin typeface="Arial"/>
            </a:endParaRPr>
          </a:p>
        </p:txBody>
      </p:sp>
      <p:sp>
        <p:nvSpPr>
          <p:cNvPr id="74" name="next number 3"/>
          <p:cNvSpPr/>
          <p:nvPr/>
        </p:nvSpPr>
        <p:spPr>
          <a:xfrm>
            <a:off x="4846320" y="3264480"/>
            <a:ext cx="383760" cy="38376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5" name="next digit 3"/>
          <p:cNvSpPr/>
          <p:nvPr/>
        </p:nvSpPr>
        <p:spPr>
          <a:xfrm>
            <a:off x="4846320" y="326448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3</a:t>
            </a:r>
            <a:endParaRPr lang="en-US" sz="1400" b="0" u="none" strike="noStrike">
              <a:solidFill>
                <a:srgbClr val="000000"/>
              </a:solidFill>
              <a:effectLst/>
              <a:uFillTx/>
              <a:latin typeface="Arial"/>
            </a:endParaRPr>
          </a:p>
        </p:txBody>
      </p:sp>
      <p:sp>
        <p:nvSpPr>
          <p:cNvPr id="76" name="next item 3"/>
          <p:cNvSpPr/>
          <p:nvPr/>
        </p:nvSpPr>
        <p:spPr>
          <a:xfrm>
            <a:off x="5394960" y="3191400"/>
            <a:ext cx="32914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Read full-text articles and licensed clinical guidelines</a:t>
            </a:r>
            <a:endParaRPr lang="en-US" sz="1400" b="0" u="none" strike="noStrike">
              <a:solidFill>
                <a:srgbClr val="000000"/>
              </a:solidFill>
              <a:effectLst/>
              <a:uFillTx/>
              <a:latin typeface="Arial"/>
            </a:endParaRPr>
          </a:p>
        </p:txBody>
      </p:sp>
      <p:sp>
        <p:nvSpPr>
          <p:cNvPr id="77" name="next number 4"/>
          <p:cNvSpPr/>
          <p:nvPr/>
        </p:nvSpPr>
        <p:spPr>
          <a:xfrm>
            <a:off x="4846320" y="3922920"/>
            <a:ext cx="383760" cy="383760"/>
          </a:xfrm>
          <a:prstGeom prst="ellipse">
            <a:avLst/>
          </a:prstGeom>
          <a:solidFill>
            <a:schemeClr val="accent2"/>
          </a:solidFill>
          <a:ln w="12600">
            <a:solidFill>
              <a:schemeClr val="accent2"/>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8" name="next digit 4"/>
          <p:cNvSpPr/>
          <p:nvPr/>
        </p:nvSpPr>
        <p:spPr>
          <a:xfrm>
            <a:off x="4846320" y="3922920"/>
            <a:ext cx="383760" cy="383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lt1"/>
                </a:solidFill>
                <a:effectLst/>
                <a:uFillTx/>
                <a:latin typeface="Calibri"/>
              </a:rPr>
              <a:t>4</a:t>
            </a:r>
            <a:endParaRPr lang="en-US" sz="1400" b="0" u="none" strike="noStrike">
              <a:solidFill>
                <a:srgbClr val="000000"/>
              </a:solidFill>
              <a:effectLst/>
              <a:uFillTx/>
              <a:latin typeface="Arial"/>
            </a:endParaRPr>
          </a:p>
        </p:txBody>
      </p:sp>
      <p:sp>
        <p:nvSpPr>
          <p:cNvPr id="79" name="next item 4"/>
          <p:cNvSpPr/>
          <p:nvPr/>
        </p:nvSpPr>
        <p:spPr>
          <a:xfrm>
            <a:off x="5394960" y="3849480"/>
            <a:ext cx="32914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Add a clinician review step before a briefing is shared</a:t>
            </a:r>
            <a:endParaRPr lang="en-US" sz="1400" b="0" u="none" strike="noStrike">
              <a:solidFill>
                <a:srgbClr val="000000"/>
              </a:solidFill>
              <a:effectLst/>
              <a:uFillTx/>
              <a:latin typeface="Arial"/>
            </a:endParaRPr>
          </a:p>
        </p:txBody>
      </p:sp>
      <p:sp>
        <p:nvSpPr>
          <p:cNvPr id="80" name="PlaceHolder 2"/>
          <p:cNvSpPr>
            <a:spLocks noGrp="1"/>
          </p:cNvSpPr>
          <p:nvPr>
            <p:ph type="sldNum" idx="7"/>
          </p:nvPr>
        </p:nvSpPr>
        <p:spPr>
          <a:xfrm>
            <a:off x="8229600" y="4754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E79D2C64-3B44-42E3-B12C-20856DC54513}" type="slidenum">
              <a:rPr lang="en-US" sz="1000" b="0" u="none" strike="noStrike">
                <a:solidFill>
                  <a:schemeClr val="accent6"/>
                </a:solidFill>
                <a:effectLst/>
                <a:uFillTx/>
                <a:latin typeface="Calibri"/>
              </a:rPr>
              <a:t>&lt;number&gt;</a:t>
            </a:fld>
            <a:endParaRPr lang="en-US"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ndition Briefing">
  <a:themeElements>
    <a:clrScheme name="Condition Briefing">
      <a:dk1>
        <a:srgbClr val="1F2A2E"/>
      </a:dk1>
      <a:lt1>
        <a:srgbClr val="FFFFFF"/>
      </a:lt1>
      <a:dk2>
        <a:srgbClr val="0B4F5C"/>
      </a:dk2>
      <a:lt2>
        <a:srgbClr val="E8F3F2"/>
      </a:lt2>
      <a:accent1>
        <a:srgbClr val="0B4F5C"/>
      </a:accent1>
      <a:accent2>
        <a:srgbClr val="E76F51"/>
      </a:accent2>
      <a:accent3>
        <a:srgbClr val="2A9D8F"/>
      </a:accent3>
      <a:accent4>
        <a:srgbClr val="8AB8B2"/>
      </a:accent4>
      <a:accent5>
        <a:srgbClr val="F4A261"/>
      </a:accent5>
      <a:accent6>
        <a:srgbClr val="5C6B70"/>
      </a:accent6>
      <a:hlink>
        <a:srgbClr val="0B4F5C"/>
      </a:hlink>
      <a:folHlink>
        <a:srgbClr val="5C6B7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Condition Briefing">
  <a:themeElements>
    <a:clrScheme name="Condition Briefing">
      <a:dk1>
        <a:srgbClr val="1F2A2E"/>
      </a:dk1>
      <a:lt1>
        <a:srgbClr val="FFFFFF"/>
      </a:lt1>
      <a:dk2>
        <a:srgbClr val="0B4F5C"/>
      </a:dk2>
      <a:lt2>
        <a:srgbClr val="E8F3F2"/>
      </a:lt2>
      <a:accent1>
        <a:srgbClr val="0B4F5C"/>
      </a:accent1>
      <a:accent2>
        <a:srgbClr val="E76F51"/>
      </a:accent2>
      <a:accent3>
        <a:srgbClr val="2A9D8F"/>
      </a:accent3>
      <a:accent4>
        <a:srgbClr val="8AB8B2"/>
      </a:accent4>
      <a:accent5>
        <a:srgbClr val="F4A261"/>
      </a:accent5>
      <a:accent6>
        <a:srgbClr val="5C6B70"/>
      </a:accent6>
      <a:hlink>
        <a:srgbClr val="0B4F5C"/>
      </a:hlink>
      <a:folHlink>
        <a:srgbClr val="5C6B7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LibreOffice/26.2.6.3$Linux_X86_64 LibreOffice_project/620$Build-3</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2026-10-12T19:14:36Z</dcterms:created>
  <dc:creator>PptxGenJS</dc:creator>
  <dc:description/>
  <dc:language>en-US</dc:language>
  <cp:lastModifiedBy>PptxGenJS</cp:lastModifiedBy>
  <dcterms:modified xsi:type="dcterms:W3CDTF">2026-10-12T19:14:36Z</dcterms:modified>
  <cp:revision>1</cp:revision>
  <dc:subject>PptxGenJS Presentation</dc:subject>
  <dc:title>Condition Briefing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vt:r8>
  </property>
  <property fmtid="{D5CDD505-2E9C-101B-9397-08002B2CF9AE}" pid="3" name="PresentationFormat">
    <vt:lpwstr>On-screen Show (16:9)</vt:lpwstr>
  </property>
  <property fmtid="{D5CDD505-2E9C-101B-9397-08002B2CF9AE}" pid="4" name="Slides">
    <vt:r8>3</vt:r8>
  </property>
</Properties>
</file>